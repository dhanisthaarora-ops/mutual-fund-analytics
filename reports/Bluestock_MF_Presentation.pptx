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B1F3A"/>
                </a:solidFill>
              </a:rPr>
              <a:t>Bluestock Mutual Fund Analytics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78D4"/>
                </a:solidFill>
              </a:rPr>
              <a:t>Final Capstone Presentation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</a:rPr>
              <a:t>Python | SQLite | Power BI | Advanced Analytics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79476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3"/>
                </a:solidFill>
              </a:rPr>
              <a:t>Prepared by Dhanistha Arora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875520" y="64465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Bluestock MF Capstone | 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&amp; Objective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155680" cy="0"/>
          </a:xfrm>
          <a:prstGeom prst="line">
            <a:avLst/>
          </a:prstGeom>
          <a:noFill/>
          <a:ln w="1651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10607040" cy="4389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Build a complete mutual fund analytics system for Bluestock.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Convert raw mutual fund data into cleaned, queryable, visual analytics outputs.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Evaluate fund performance using CAGR, Sharpe, Sortino, Alpha, Beta, drawdown, VaR, and CVaR.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Create an investor-friendly dashboard and final business recommendations.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Bluestock MF Capstone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Sources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155680" cy="0"/>
          </a:xfrm>
          <a:prstGeom prst="line">
            <a:avLst/>
          </a:prstGeom>
          <a:noFill/>
          <a:ln w="1651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Fund master: AMFI code, fund house, category, plan, benchmark, risk grade.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NAV history: daily NAV used for return and risk calculations.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AUM, SIP inflow, category inflow, folio count, and benchmark datasets.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Investor transactions: amount, state, city tier, age group, gender, payment mode, KYC.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Portfolio holdings: sector exposure used for HHI concentration analysis.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Bluestock MF Capstone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155680" cy="0"/>
          </a:xfrm>
          <a:prstGeom prst="line">
            <a:avLst/>
          </a:prstGeom>
          <a:noFill/>
          <a:ln w="1651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Raw CSVs are stored in data/raw.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Python ETL validates dates, numeric values, duplicates, NAV &gt; 0, transaction amount &gt; 0, and KYC values.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Cleaned CSVs are written to data/processed.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SQLite schema stores dim_fund, dim_date, fact_nav, fact_transactions, fact_performance, fact_aum, and supporting fact tables.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Power BI Service consumes the cleaned Excel export for dashboarding.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Bluestock MF Capstone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Highlights: Industry Growth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155680" cy="0"/>
          </a:xfrm>
          <a:prstGeom prst="line">
            <a:avLst/>
          </a:prstGeom>
          <a:noFill/>
          <a:ln w="16510">
            <a:solidFill>
              <a:srgbClr val="0078D4"/>
            </a:solidFill>
            <a:prstDash val="solid"/>
          </a:ln>
        </p:spPr>
      </p:sp>
      <p:pic>
        <p:nvPicPr>
          <p:cNvPr id="4" name="Image 0" descr="/Users/dhanistha/mutual-fund-analytics/reports/charts/02_aum_growth_by_fund_hou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5212080" cy="4297680"/>
          </a:xfrm>
          <a:prstGeom prst="rect">
            <a:avLst/>
          </a:prstGeom>
        </p:spPr>
      </p:pic>
      <p:pic>
        <p:nvPicPr>
          <p:cNvPr id="5" name="Image 1" descr="/Users/dhanistha/mutual-fund-analytics/reports/charts/04_category_inflow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005840"/>
            <a:ext cx="5212080" cy="4297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548640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AUM growth is concentrated among large AMCs.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Category inflows vary materially by month and product category.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9875520" y="64465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Bluestock MF Capstone |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Highlights: Investors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155680" cy="0"/>
          </a:xfrm>
          <a:prstGeom prst="line">
            <a:avLst/>
          </a:prstGeom>
          <a:noFill/>
          <a:ln w="16510">
            <a:solidFill>
              <a:srgbClr val="0078D4"/>
            </a:solidFill>
            <a:prstDash val="solid"/>
          </a:ln>
        </p:spPr>
      </p:sp>
      <p:pic>
        <p:nvPicPr>
          <p:cNvPr id="4" name="Image 0" descr="/Users/dhanistha/mutual-fund-analytics/reports/charts/08_sip_amount_by_st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60120"/>
            <a:ext cx="5303520" cy="4206240"/>
          </a:xfrm>
          <a:prstGeom prst="rect">
            <a:avLst/>
          </a:prstGeom>
        </p:spPr>
      </p:pic>
      <p:pic>
        <p:nvPicPr>
          <p:cNvPr id="5" name="Image 1" descr="/Users/dhanistha/mutual-fund-analytics/reports/charts/06_sip_amount_by_age_gro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60120"/>
            <a:ext cx="5120640" cy="4206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544068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Top states contribute a large share of transaction value.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SIP ticket size differs across age groups.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9875520" y="64465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Bluestock MF Capstone |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Metrics: Scorecard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155680" cy="0"/>
          </a:xfrm>
          <a:prstGeom prst="line">
            <a:avLst/>
          </a:prstGeom>
          <a:noFill/>
          <a:ln w="16510">
            <a:solidFill>
              <a:srgbClr val="0078D4"/>
            </a:solidFill>
            <a:prstDash val="solid"/>
          </a:ln>
        </p:spPr>
      </p:sp>
      <p:pic>
        <p:nvPicPr>
          <p:cNvPr id="4" name="Image 0" descr="/Users/dhanistha/mutual-fund-analytics/reports/charts/fund_scorecard_top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05840"/>
            <a:ext cx="548640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0" y="123444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Composite score combines 3-year return, Sharpe, Alpha, inverse expense ratio, and inverse maximum drawdown.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</a:rPr>
              <a:t>The scorecard creates a simple rankable view for fund screening.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875520" y="64465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Bluestock MF Capstone |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Metrics: Risk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155680" cy="0"/>
          </a:xfrm>
          <a:prstGeom prst="line">
            <a:avLst/>
          </a:prstGeom>
          <a:noFill/>
          <a:ln w="16510">
            <a:solidFill>
              <a:srgbClr val="0078D4"/>
            </a:solidFill>
            <a:prstDash val="solid"/>
          </a:ln>
        </p:spPr>
      </p:sp>
      <p:pic>
        <p:nvPicPr>
          <p:cNvPr id="4" name="Image 0" descr="/Users/dhanistha/mutual-fund-analytics/reports/charts/daily_return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960120"/>
            <a:ext cx="5212080" cy="4206240"/>
          </a:xfrm>
          <a:prstGeom prst="rect">
            <a:avLst/>
          </a:prstGeom>
        </p:spPr>
      </p:pic>
      <p:pic>
        <p:nvPicPr>
          <p:cNvPr id="5" name="Image 1" descr="/Users/dhanistha/mutual-fund-analytics/reports/charts/rolling_sharpe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960120"/>
            <a:ext cx="5303520" cy="4206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544068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Daily return distribution supports VaR and CVaR risk estimation.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Rolling Sharpe reveals changing risk-adjusted performance over time.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9875520" y="64465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Bluestock MF Capstone |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Screenshots: Overview &amp; Performance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155680" cy="0"/>
          </a:xfrm>
          <a:prstGeom prst="line">
            <a:avLst/>
          </a:prstGeom>
          <a:noFill/>
          <a:ln w="16510">
            <a:solidFill>
              <a:srgbClr val="0078D4"/>
            </a:solidFill>
            <a:prstDash val="solid"/>
          </a:ln>
        </p:spPr>
      </p:sp>
      <p:pic>
        <p:nvPicPr>
          <p:cNvPr id="4" name="Image 0" descr="/Users/dhanistha/mutual-fund-analytics/reports/charts/page1_industry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60120"/>
            <a:ext cx="5303520" cy="4389120"/>
          </a:xfrm>
          <a:prstGeom prst="rect">
            <a:avLst/>
          </a:prstGeom>
        </p:spPr>
      </p:pic>
      <p:pic>
        <p:nvPicPr>
          <p:cNvPr id="5" name="Image 1" descr="/Users/dhanistha/mutual-fund-analytics/reports/charts/page2_fund_perform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60120"/>
            <a:ext cx="5303520" cy="43891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55321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Industry Overview summarizes AUM, SIP inflows, folios, schemes, and AMC trends.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Fund Performance compares returns, risk, scorecard ranks, and NAV movement.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9875520" y="64465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Bluestock MF Capstone |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Screenshots: Investors &amp; Market Trends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155680" cy="0"/>
          </a:xfrm>
          <a:prstGeom prst="line">
            <a:avLst/>
          </a:prstGeom>
          <a:noFill/>
          <a:ln w="16510">
            <a:solidFill>
              <a:srgbClr val="0078D4"/>
            </a:solidFill>
            <a:prstDash val="solid"/>
          </a:ln>
        </p:spPr>
      </p:sp>
      <p:pic>
        <p:nvPicPr>
          <p:cNvPr id="4" name="Image 0" descr="/Users/dhanistha/mutual-fund-analytics/reports/charts/page3_investor_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60120"/>
            <a:ext cx="5303520" cy="4389120"/>
          </a:xfrm>
          <a:prstGeom prst="rect">
            <a:avLst/>
          </a:prstGeom>
        </p:spPr>
      </p:pic>
      <p:pic>
        <p:nvPicPr>
          <p:cNvPr id="5" name="Image 1" descr="/Users/dhanistha/mutual-fund-analytics/reports/charts/page4_sip_market_trend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60120"/>
            <a:ext cx="5303520" cy="43891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55321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Investor Analytics explores state, transaction type, age group, and transaction volume.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</a:rPr>
              <a:t>SIP &amp; Market Trends compares SIP inflow, Nifty 50, and category inflows.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9875520" y="64465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Bluestock MF Capstone |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Findings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11155680" cy="0"/>
          </a:xfrm>
          <a:prstGeom prst="line">
            <a:avLst/>
          </a:prstGeom>
          <a:noFill/>
          <a:ln w="1651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97280"/>
            <a:ext cx="104241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Large AMCs dominate industry AUM, with SBI among the strongest visible players.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SIP inflows and folios show rising investor participation over the project period.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Risk-adjusted performance differs meaningfully across funds even when returns look similar.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VaR and CVaR identify funds with larger downside tail risk.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</a:rPr>
              <a:t>Investor cohort and SIP continuity analysis can support targeted retention actions.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Bluestock MF Capstone | 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0632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E2EC"/>
                </a:solidFill>
              </a:rPr>
              <a:t>Bluestock Mutual Fund Analytics Capstone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71600" y="37033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GitHub repository includes ETL, SQLite schema, notebooks, dashboard exports, report, and presentation.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Bluestock MF Capstone |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Bluestock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Presentation</dc:title>
  <dc:subject>Bluestock Mutual Fund Analytics Capstone</dc:subject>
  <dc:creator>Dhanistha Arora</dc:creator>
  <cp:lastModifiedBy>Dhanistha Arora</cp:lastModifiedBy>
  <cp:revision>1</cp:revision>
  <dcterms:created xsi:type="dcterms:W3CDTF">2026-06-10T19:13:03Z</dcterms:created>
  <dcterms:modified xsi:type="dcterms:W3CDTF">2026-06-10T19:13:03Z</dcterms:modified>
</cp:coreProperties>
</file>